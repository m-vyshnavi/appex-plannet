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0876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TASK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Data Storytelling &amp; 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t>ApexPlanet Data Analytics Internship | Sales Performance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Synthesize the previous analysis into a concise business story.</a:t>
            </a:r>
          </a:p>
          <a:p>
            <a:pPr>
              <a:spcAft>
                <a:spcPts val="1200"/>
              </a:spcAft>
              <a:defRPr sz="2100"/>
            </a:pPr>
            <a:r>
              <a:t>Validate a key business question using a statistical hypothesis test.</a:t>
            </a:r>
          </a:p>
          <a:p>
            <a:pPr>
              <a:spcAft>
                <a:spcPts val="1200"/>
              </a:spcAft>
              <a:defRPr sz="2100"/>
            </a:pPr>
            <a:r>
              <a:t>Translate the findings into decisions and a clear call to action.</a:t>
            </a:r>
          </a:p>
          <a:p>
            <a:pPr>
              <a:spcAft>
                <a:spcPts val="1200"/>
              </a:spcAft>
              <a:defRPr sz="2100"/>
            </a:pPr>
            <a:r>
              <a:t>Use the Power BI dashboard as the interactive evidence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 Story — What Is Driving Sales?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Overall sales reached approximately ₹13.94 Cr across 1,000 transactions.</a:t>
            </a:r>
          </a:p>
          <a:p>
            <a:pPr>
              <a:spcAft>
                <a:spcPts val="1200"/>
              </a:spcAft>
              <a:defRPr sz="1800"/>
            </a:pPr>
            <a:r>
              <a:t>Electronics is the leading category at approximately ₹5.08 Cr.</a:t>
            </a:r>
          </a:p>
          <a:p>
            <a:pPr>
              <a:spcAft>
                <a:spcPts val="1200"/>
              </a:spcAft>
              <a:defRPr sz="1800"/>
            </a:pPr>
            <a:r>
              <a:t>Laptop is the highest-revenue product at approximately ₹2.54 Cr.</a:t>
            </a:r>
          </a:p>
          <a:p>
            <a:pPr>
              <a:spcAft>
                <a:spcPts val="1200"/>
              </a:spcAft>
              <a:defRPr sz="1800"/>
            </a:pPr>
            <a:r>
              <a:t>Patna is the highest-performing city at approximately ₹2.08 Cr.</a:t>
            </a:r>
          </a:p>
          <a:p>
            <a:pPr>
              <a:spcAft>
                <a:spcPts val="1200"/>
              </a:spcAft>
              <a:defRPr sz="1800"/>
            </a:pPr>
            <a:r>
              <a:t>The 35-44 age group contributes the highest sales.</a:t>
            </a:r>
          </a:p>
          <a:p>
            <a:pPr>
              <a:spcAft>
                <a:spcPts val="1200"/>
              </a:spcAft>
              <a:defRPr sz="1800"/>
            </a:pPr>
            <a:r>
              <a:t>Customer retention is an opportunity because only a small share of customers are repeat purchasers.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Interactive Dashboard</a:t>
            </a:r>
          </a:p>
        </p:txBody>
      </p:sp>
      <p:pic>
        <p:nvPicPr>
          <p:cNvPr id="3" name="Picture 2" descr="c3a55551-5107-4b3a-8244-c48e3c31b33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34720"/>
            <a:ext cx="11155680" cy="58286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Power BI dashboard with KPI cards, trend analysis, category/product/city views and interactive slicers.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Visual Evidence</a:t>
            </a:r>
          </a:p>
        </p:txBody>
      </p:sp>
      <p:pic>
        <p:nvPicPr>
          <p:cNvPr id="3" name="Picture 2" descr="task4_sales_by_categ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5486400" cy="3072384"/>
          </a:xfrm>
          <a:prstGeom prst="rect">
            <a:avLst/>
          </a:prstGeom>
        </p:spPr>
      </p:pic>
      <p:pic>
        <p:nvPicPr>
          <p:cNvPr id="4" name="Picture 3" descr="task4_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486400" cy="3072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9893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Peak month: 2025-03 with approximately ₹1.31 Cr in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Business question: Do male and female customers have different average transaction sales?</a:t>
            </a:r>
          </a:p>
          <a:p>
            <a:pPr>
              <a:spcAft>
                <a:spcPts val="1200"/>
              </a:spcAft>
              <a:defRPr sz="1900"/>
            </a:pPr>
            <a:r>
              <a:t>H₀ (null): Mean transaction sales are equal for male and female customers.</a:t>
            </a:r>
          </a:p>
          <a:p>
            <a:pPr>
              <a:spcAft>
                <a:spcPts val="1200"/>
              </a:spcAft>
              <a:defRPr sz="1900"/>
            </a:pPr>
            <a:r>
              <a:t>H₁ (alternative): Mean transaction sales are different.</a:t>
            </a:r>
          </a:p>
          <a:p>
            <a:pPr>
              <a:spcAft>
                <a:spcPts val="1200"/>
              </a:spcAft>
              <a:defRPr sz="1900"/>
            </a:pPr>
            <a:r>
              <a:t>Test: Independent two-sample Welch t-test, two-sided, α = 0.05.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Statistical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Male transactions: n = 511; mean = ₹141,807.34.</a:t>
            </a:r>
          </a:p>
          <a:p>
            <a:pPr>
              <a:spcAft>
                <a:spcPts val="1200"/>
              </a:spcAft>
              <a:defRPr sz="1700"/>
            </a:pPr>
            <a:r>
              <a:t>Female transactions: n = 489; mean = ₹136,883.21.</a:t>
            </a:r>
          </a:p>
          <a:p>
            <a:pPr>
              <a:spcAft>
                <a:spcPts val="1200"/>
              </a:spcAft>
              <a:defRPr sz="1700"/>
            </a:pPr>
            <a:r>
              <a:t>Welch t-statistic = 0.683; degrees of freedom ≈ 998.0.</a:t>
            </a:r>
          </a:p>
          <a:p>
            <a:pPr>
              <a:spcAft>
                <a:spcPts val="1200"/>
              </a:spcAft>
              <a:defRPr sz="1700"/>
            </a:pPr>
            <a:r>
              <a:t>p-value = 0.495.</a:t>
            </a:r>
          </a:p>
          <a:p>
            <a:pPr>
              <a:spcAft>
                <a:spcPts val="1200"/>
              </a:spcAft>
              <a:defRPr sz="1700"/>
            </a:pPr>
            <a:r>
              <a:t>95% CI for the mean difference (Male − Female): ₹-9,231.58 to ₹19,079.85.</a:t>
            </a:r>
          </a:p>
          <a:p>
            <a:pPr>
              <a:spcAft>
                <a:spcPts val="1200"/>
              </a:spcAft>
              <a:defRPr sz="1700"/>
            </a:pPr>
            <a:r>
              <a:t>Decision: Fail to reject H₀ at the 5% significance level.</a:t>
            </a:r>
          </a:p>
          <a:p>
            <a:pPr>
              <a:spcAft>
                <a:spcPts val="1200"/>
              </a:spcAft>
              <a:defRPr sz="1700"/>
            </a:pPr>
            <a:r>
              <a:t>Conclusion: The observed difference is not statistically significant; gender alone should not be treated as a strong driver of average transaction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Business Implications &amp;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Do not make major pricing or targeting decisions based on gender alone.</a:t>
            </a:r>
          </a:p>
          <a:p>
            <a:pPr>
              <a:spcAft>
                <a:spcPts val="1200"/>
              </a:spcAft>
              <a:defRPr sz="1800"/>
            </a:pPr>
            <a:r>
              <a:t>Prioritize Electronics and high-revenue products such as Laptop and Mobile.</a:t>
            </a:r>
          </a:p>
          <a:p>
            <a:pPr>
              <a:spcAft>
                <a:spcPts val="1200"/>
              </a:spcAft>
              <a:defRPr sz="1800"/>
            </a:pPr>
            <a:r>
              <a:t>Investigate lower-performing cities with targeted local campaigns.</a:t>
            </a:r>
          </a:p>
          <a:p>
            <a:pPr>
              <a:spcAft>
                <a:spcPts val="1200"/>
              </a:spcAft>
              <a:defRPr sz="1800"/>
            </a:pPr>
            <a:r>
              <a:t>Use age group, city, category and purchasing behavior together for segmentation.</a:t>
            </a:r>
          </a:p>
          <a:p>
            <a:pPr>
              <a:spcAft>
                <a:spcPts val="1200"/>
              </a:spcAft>
              <a:defRPr sz="1800"/>
            </a:pPr>
            <a:r>
              <a:t>Invest in retention initiatives to increase repeat purchases.</a:t>
            </a:r>
          </a:p>
          <a:p>
            <a:pPr>
              <a:spcAft>
                <a:spcPts val="1200"/>
              </a:spcAft>
              <a:defRPr sz="1800"/>
            </a:pPr>
            <a:r>
              <a:t>Continue monitoring monthly performance to identify seasonal or promotional effects.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dashboard converts sales data into a decision-oriented business story.</a:t>
            </a:r>
          </a:p>
          <a:p>
            <a:pPr>
              <a:spcAft>
                <a:spcPts val="1200"/>
              </a:spcAft>
              <a:defRPr sz="2000"/>
            </a:pPr>
            <a:r>
              <a:t>Descriptive analysis identifies the strongest categories, products, cities and customer segments.</a:t>
            </a:r>
          </a:p>
          <a:p>
            <a:pPr>
              <a:spcAft>
                <a:spcPts val="1200"/>
              </a:spcAft>
              <a:defRPr sz="2000"/>
            </a:pPr>
            <a:r>
              <a:t>Statistical validation shows no significant gender difference in average transaction sales.</a:t>
            </a:r>
          </a:p>
          <a:p>
            <a:pPr>
              <a:spcAft>
                <a:spcPts val="1200"/>
              </a:spcAft>
              <a:defRPr sz="2000"/>
            </a:pPr>
            <a:r>
              <a:t>The most actionable opportunities are category/product focus, city optimization and customer retention.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2671</Words>
  <Application>WPS Presentation</Application>
  <PresentationFormat>On-screen Show (4:3)</PresentationFormat>
  <Paragraphs>63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vyshnavi</cp:lastModifiedBy>
  <cp:revision>2</cp:revision>
  <dcterms:created xsi:type="dcterms:W3CDTF">2013-01-27T09:14:00Z</dcterms:created>
  <dcterms:modified xsi:type="dcterms:W3CDTF">2026-09-02T04:16:29Z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00C77FB6CCA9439F8DA4A3C67C84C51D_12</vt:lpwstr>
  </property>
  <property fmtid="{D5CDD505-2E9C-101B-9397-08002B2CF9AE}" pid="3" name="KSOProductBuildVer">
    <vt:lpwstr>2057-12.2.0.23206</vt:lpwstr>
  </property>
</Properties>
</file>